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98848"/>
            <a:ext cx="12191695" cy="41148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00" b="1">
                <a:solidFill>
                  <a:srgbClr val="FFBC00"/>
                </a:solidFill>
                <a:latin typeface="맑은 고딕"/>
              </a:rPr>
              <a:t>제8회 KB AI Challenge (2026) · 현직자 Pick #6 「수출입 금융 지원 에이전트」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5800" b="1">
                <a:solidFill>
                  <a:srgbClr val="FFFFFF"/>
                </a:solidFill>
                <a:latin typeface="맑은 고딕"/>
              </a:rPr>
              <a:t>FX Sentinel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400" b="0">
                <a:solidFill>
                  <a:srgbClr val="FFFFFF"/>
                </a:solidFill>
                <a:latin typeface="맑은 고딕"/>
              </a:rPr>
              <a:t>KB Star FX 기반 수출입 금융 AI 코파일럿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550" b="0">
                <a:solidFill>
                  <a:srgbClr val="C9D2E2"/>
                </a:solidFill>
                <a:latin typeface="맑은 고딕"/>
              </a:rPr>
              <a:t>환율을 맞히는 서비스가 아닙니다.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550" b="0">
                <a:solidFill>
                  <a:srgbClr val="C9D2E2"/>
                </a:solidFill>
                <a:latin typeface="맑은 고딕"/>
              </a:rPr>
              <a:t>수출입 기업의 </a:t>
            </a:r>
            <a:r>
              <a:rPr sz="1550" b="1">
                <a:solidFill>
                  <a:srgbClr val="FFBC00"/>
                </a:solidFill>
                <a:latin typeface="맑은 고딕"/>
              </a:rPr>
              <a:t>예산환율이 깨질 확률(BBP)</a:t>
            </a:r>
            <a:r>
              <a:rPr sz="1550" b="0">
                <a:solidFill>
                  <a:srgbClr val="C9D2E2"/>
                </a:solidFill>
                <a:latin typeface="맑은 고딕"/>
              </a:rPr>
              <a:t>을 계산해, KB국민은행의 실제 외환·수출입금융·무역지원 상품으로 안전하게 라우팅합니다.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1">
                <a:solidFill>
                  <a:srgbClr val="FFBC00"/>
                </a:solidFill>
                <a:latin typeface="맑은 고딕"/>
              </a:rPr>
              <a:t>▶ 라이브 데모 · https://seonu-dragon.github.io/KB_FX_Sentinel/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50" b="0">
                <a:solidFill>
                  <a:srgbClr val="9AA7BD"/>
                </a:solidFill>
                <a:latin typeface="맑은 고딕"/>
              </a:rPr>
              <a:t>오프라인 단일 파일(FX_Sentinel_demo_ui.html)로도 동일 화면 · 외부 의존성 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6B7686"/>
                </a:solidFill>
                <a:latin typeface="맑은 고딕"/>
              </a:rPr>
              <a:t>문제 정의 — 현직자 Pick #6 · 수출입 금융 지원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>
                <a:solidFill>
                  <a:srgbClr val="1A2B4A"/>
                </a:solidFill>
                <a:latin typeface="맑은 고딕"/>
              </a:rPr>
              <a:t>“예산환율은 정해뒀지만, 그게 깨질 확률은 아무도 모른다.”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155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70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700" b="0">
                <a:solidFill>
                  <a:srgbClr val="22314E"/>
                </a:solidFill>
                <a:latin typeface="맑은 고딕"/>
              </a:rPr>
              <a:t>중소 수출입기업은 손익분기 환율(예산환율)을 정해두지만, </a:t>
            </a:r>
            <a:r>
              <a:rPr sz="1700" b="1">
                <a:solidFill>
                  <a:srgbClr val="1A2B4A"/>
                </a:solidFill>
                <a:latin typeface="맑은 고딕"/>
              </a:rPr>
              <a:t>깨질 확률을 정량으로 아는 곳은 드물다.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70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700" b="0">
                <a:solidFill>
                  <a:srgbClr val="22314E"/>
                </a:solidFill>
                <a:latin typeface="맑은 고딕"/>
              </a:rPr>
              <a:t>환헤지는 “할까/말까” 이분법 — </a:t>
            </a:r>
            <a:r>
              <a:rPr sz="1700" b="1">
                <a:solidFill>
                  <a:srgbClr val="1A2B4A"/>
                </a:solidFill>
                <a:latin typeface="맑은 고딕"/>
              </a:rPr>
              <a:t>얼마를 · 어떤 수단으로</a:t>
            </a:r>
            <a:r>
              <a:rPr sz="1700" b="0">
                <a:solidFill>
                  <a:srgbClr val="22314E"/>
                </a:solidFill>
                <a:latin typeface="맑은 고딕"/>
              </a:rPr>
              <a:t> 헤지할지 근거가 없다.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70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700" b="0">
                <a:solidFill>
                  <a:srgbClr val="22314E"/>
                </a:solidFill>
                <a:latin typeface="맑은 고딕"/>
              </a:rPr>
              <a:t>결제방식(T/T·L/C·D/A·O/A)·거래국·품목마다 필요한 KB 상품이 다른데 </a:t>
            </a:r>
            <a:r>
              <a:rPr sz="1700" b="1">
                <a:solidFill>
                  <a:srgbClr val="1A2B4A"/>
                </a:solidFill>
                <a:latin typeface="맑은 고딕"/>
              </a:rPr>
              <a:t>어디에 뭘 신청할지 정보 비대칭</a:t>
            </a:r>
            <a:r>
              <a:rPr sz="1700" b="0">
                <a:solidFill>
                  <a:srgbClr val="22314E"/>
                </a:solidFill>
                <a:latin typeface="맑은 고딕"/>
              </a:rPr>
              <a:t>이 크다.</a:t>
            </a: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70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700" b="0">
                <a:solidFill>
                  <a:srgbClr val="22314E"/>
                </a:solidFill>
                <a:latin typeface="맑은 고딕"/>
              </a:rPr>
              <a:t>개인사업자·글로벌셀러는 정산 환율·수수료·환전 타이밍에 특히 취약.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029200"/>
            <a:ext cx="11155680" cy="100584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193792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50" b="0">
                <a:solidFill>
                  <a:srgbClr val="22314E"/>
                </a:solidFill>
                <a:latin typeface="맑은 고딕"/>
              </a:rPr>
              <a:t>타깃 — 50~60대 SME 재무담당자. “전문 트레이더 도구”가 아니라 </a:t>
            </a:r>
            <a:r>
              <a:rPr sz="1550" b="1">
                <a:solidFill>
                  <a:srgbClr val="1A2B4A"/>
                </a:solidFill>
                <a:latin typeface="맑은 고딕"/>
              </a:rPr>
              <a:t>사장님이 한눈에 이해하는 리스크 번역기.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6B7686"/>
                </a:solidFill>
                <a:latin typeface="맑은 고딕"/>
              </a:rPr>
              <a:t>FX Sentinel — 제8회 KB AI Challenge · 현직자 Pick #6 수출입 금융 지원 에이전트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6B7686"/>
                </a:solidFill>
                <a:latin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6B7686"/>
                </a:solidFill>
                <a:latin typeface="맑은 고딕"/>
              </a:rPr>
              <a:t>왜 KB인가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>
                <a:solidFill>
                  <a:srgbClr val="1A2B4A"/>
                </a:solidFill>
                <a:latin typeface="맑은 고딕"/>
              </a:rPr>
              <a:t>맨땅 신규가 아니라, KB Star FX 위에 얹는 증강 레이어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45920"/>
          <a:ext cx="11155680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맑은 고딕"/>
                        </a:rPr>
                        <a:t>KB가 이미 가진 것</a:t>
                      </a:r>
                    </a:p>
                  </a:txBody>
                  <a:tcPr marL="73152" marR="54864" marT="27432" marB="27432" anchor="ctr">
                    <a:solidFill>
                      <a:srgbClr val="1A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맑은 고딕"/>
                        </a:rPr>
                        <a:t>비어 있는 칸 (= FX Sentinel)</a:t>
                      </a:r>
                    </a:p>
                  </a:txBody>
                  <a:tcPr marL="73152" marR="54864" marT="27432" marB="27432" anchor="ctr">
                    <a:solidFill>
                      <a:srgbClr val="1A2B4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22314E"/>
                          </a:solidFill>
                          <a:latin typeface="맑은 고딕"/>
                        </a:rPr>
                        <a:t>AI 환율전망 (뉴스감성 컨센서스)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22314E"/>
                          </a:solidFill>
                          <a:latin typeface="맑은 고딕"/>
                        </a:rPr>
                        <a:t>회사별 </a:t>
                      </a:r>
                      <a:r>
                        <a:rPr sz="1450" b="1">
                          <a:solidFill>
                            <a:srgbClr val="1A2B4A"/>
                          </a:solidFill>
                          <a:latin typeface="맑은 고딕"/>
                        </a:rPr>
                        <a:t>예산환율 이탈확률 BBP</a:t>
                      </a:r>
                      <a:r>
                        <a:rPr sz="1450" b="0">
                          <a:solidFill>
                            <a:srgbClr val="22314E"/>
                          </a:solidFill>
                          <a:latin typeface="맑은 고딕"/>
                        </a:rPr>
                        <a:t> — 정량·개인화·확률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22314E"/>
                          </a:solidFill>
                          <a:latin typeface="맑은 고딕"/>
                        </a:rPr>
                        <a:t>헤지솔루션 · 환관리센터 · 경제캘린더</a:t>
                      </a:r>
                    </a:p>
                  </a:txBody>
                  <a:tcPr marL="73152" marR="54864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450" b="0">
                          <a:solidFill>
                            <a:srgbClr val="22314E"/>
                          </a:solidFill>
                          <a:latin typeface="맑은 고딕"/>
                        </a:rPr>
                        <a:t>결제방식·거래국·품목 → </a:t>
                      </a:r>
                      <a:r>
                        <a:rPr sz="1450" b="1">
                          <a:solidFill>
                            <a:srgbClr val="1A2B4A"/>
                          </a:solidFill>
                          <a:latin typeface="맑은 고딕"/>
                        </a:rPr>
                        <a:t>KB 상품 라우팅 오케스트레이션</a:t>
                      </a:r>
                    </a:p>
                  </a:txBody>
                  <a:tcPr marL="73152" marR="54864" marT="27432" marB="27432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749039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55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550" b="0">
                <a:solidFill>
                  <a:srgbClr val="22314E"/>
                </a:solidFill>
                <a:latin typeface="맑은 고딕"/>
              </a:rPr>
              <a:t>KB가 채운 축은 </a:t>
            </a:r>
            <a:r>
              <a:rPr sz="1550" b="1">
                <a:solidFill>
                  <a:srgbClr val="1A2B4A"/>
                </a:solidFill>
                <a:latin typeface="맑은 고딕"/>
              </a:rPr>
              <a:t>뉴스심리(S) 한 축</a:t>
            </a:r>
            <a:r>
              <a:rPr sz="1550" b="0">
                <a:solidFill>
                  <a:srgbClr val="22314E"/>
                </a:solidFill>
                <a:latin typeface="맑은 고딕"/>
              </a:rPr>
              <a:t> — 그 위에 </a:t>
            </a:r>
            <a:r>
              <a:rPr sz="1550" b="1">
                <a:solidFill>
                  <a:srgbClr val="1A2B4A"/>
                </a:solidFill>
                <a:latin typeface="맑은 고딕"/>
              </a:rPr>
              <a:t>정량 조기경보(BBP) + 개인화 + KB 공식상품 라우팅</a:t>
            </a:r>
            <a:r>
              <a:rPr sz="1550" b="0">
                <a:solidFill>
                  <a:srgbClr val="22314E"/>
                </a:solidFill>
                <a:latin typeface="맑은 고딕"/>
              </a:rPr>
              <a:t>을 얹는다.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55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550" b="1">
                <a:solidFill>
                  <a:srgbClr val="1A2B4A"/>
                </a:solidFill>
                <a:latin typeface="맑은 고딕"/>
              </a:rPr>
              <a:t>다른 은행 로고로 대체 불가</a:t>
            </a:r>
            <a:r>
              <a:rPr sz="1550" b="0">
                <a:solidFill>
                  <a:srgbClr val="22314E"/>
                </a:solidFill>
                <a:latin typeface="맑은 고딕"/>
              </a:rPr>
              <a:t> — KB Payment Usance · 특별출연(K-SURE) · 해외거래처 신용조사 · 파트너관세사가 라우팅의 목적지.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55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550" b="0">
                <a:solidFill>
                  <a:srgbClr val="22314E"/>
                </a:solidFill>
                <a:latin typeface="맑은 고딕"/>
              </a:rPr>
              <a:t>배포 채널(KB Star FX)이 이미 존재 → </a:t>
            </a:r>
            <a:r>
              <a:rPr sz="1550" b="1">
                <a:solidFill>
                  <a:srgbClr val="1A2B4A"/>
                </a:solidFill>
                <a:latin typeface="맑은 고딕"/>
              </a:rPr>
              <a:t>실배포 논리가 곧바로 선다.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6B7686"/>
                </a:solidFill>
                <a:latin typeface="맑은 고딕"/>
              </a:rPr>
              <a:t>FX Sentinel — 제8회 KB AI Challenge · 현직자 Pick #6 수출입 금융 지원 에이전트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6B7686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6B7686"/>
                </a:solidFill>
                <a:latin typeface="맑은 고딕"/>
              </a:rPr>
              <a:t>솔루션 개요 — 데모와 1:1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>
                <a:solidFill>
                  <a:srgbClr val="1A2B4A"/>
                </a:solidFill>
                <a:latin typeface="맑은 고딕"/>
              </a:rPr>
              <a:t>3스텝 사용자 여정 — 화면 그대로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00" b="1">
                <a:solidFill>
                  <a:srgbClr val="1A2B4A"/>
                </a:solidFill>
                <a:latin typeface="맑은 고딕"/>
              </a:rPr>
              <a:t>① 거래 정보 입력</a:t>
            </a:r>
            <a:r>
              <a:rPr sz="1400" b="0">
                <a:solidFill>
                  <a:srgbClr val="22314E"/>
                </a:solidFill>
                <a:latin typeface="맑은 고딕"/>
              </a:rPr>
              <a:t>(간편 5개 + 인보이스 업로드 = 실수요 게이트)  →  </a:t>
            </a:r>
            <a:r>
              <a:rPr sz="1400" b="1">
                <a:solidFill>
                  <a:srgbClr val="1A2B4A"/>
                </a:solidFill>
                <a:latin typeface="맑은 고딕"/>
              </a:rPr>
              <a:t>② 리스크 진단</a:t>
            </a:r>
            <a:r>
              <a:rPr sz="1400" b="0">
                <a:solidFill>
                  <a:srgbClr val="22314E"/>
                </a:solidFill>
                <a:latin typeface="맑은 고딕"/>
              </a:rPr>
              <a:t>(BBP·의사결정 도우미·XAI)  →  </a:t>
            </a:r>
            <a:r>
              <a:rPr sz="1400" b="1">
                <a:solidFill>
                  <a:srgbClr val="1A2B4A"/>
                </a:solidFill>
                <a:latin typeface="맑은 고딕"/>
              </a:rPr>
              <a:t>③ 금융지원 라우팅</a:t>
            </a:r>
            <a:r>
              <a:rPr sz="1400" b="0">
                <a:solidFill>
                  <a:srgbClr val="22314E"/>
                </a:solidFill>
                <a:latin typeface="맑은 고딕"/>
              </a:rPr>
              <a:t>(KB 상품 → RM 티켓)</a:t>
            </a:r>
          </a:p>
        </p:txBody>
      </p:sp>
      <p:sp>
        <p:nvSpPr>
          <p:cNvPr id="6" name="Rectangle 5"/>
          <p:cNvSpPr/>
          <p:nvPr/>
        </p:nvSpPr>
        <p:spPr>
          <a:xfrm>
            <a:off x="2139696" y="1984248"/>
            <a:ext cx="7918704" cy="430332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pt_core_3ste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128" y="2011680"/>
            <a:ext cx="7863840" cy="42484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6B7686"/>
                </a:solidFill>
                <a:latin typeface="맑은 고딕"/>
              </a:rPr>
              <a:t>FX Sentinel — 제8회 KB AI Challenge · 현직자 Pick #6 수출입 금융 지원 에이전트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6B7686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6B7686"/>
                </a:solidFill>
                <a:latin typeface="맑은 고딕"/>
              </a:rPr>
              <a:t>[데모 ①] 라이브 — 나래상사(수입) End-to-End 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>
                <a:solidFill>
                  <a:srgbClr val="1A2B4A"/>
                </a:solidFill>
                <a:latin typeface="맑은 고딕"/>
              </a:rPr>
              <a:t>한 화면에서 경보 → 진단 → 근거 → 상품 → 티켓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527048"/>
            <a:ext cx="7644384" cy="4155123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pt_home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7589520" cy="41002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66760" y="164592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5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250" b="0">
                <a:solidFill>
                  <a:srgbClr val="22314E"/>
                </a:solidFill>
                <a:latin typeface="맑은 고딕"/>
              </a:rPr>
              <a:t>열자마자 </a:t>
            </a:r>
            <a:r>
              <a:rPr sz="1250" b="1">
                <a:solidFill>
                  <a:srgbClr val="1A2B4A"/>
                </a:solidFill>
                <a:latin typeface="맑은 고딕"/>
              </a:rPr>
              <a:t>에이전트 점검 브리핑</a:t>
            </a:r>
            <a:r>
              <a:rPr sz="1250" b="0">
                <a:solidFill>
                  <a:srgbClr val="22314E"/>
                </a:solidFill>
                <a:latin typeface="맑은 고딕"/>
              </a:rPr>
              <a:t> — “이미 점검해 두었습니다”를 1인칭 보고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5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250" b="0">
                <a:solidFill>
                  <a:srgbClr val="22314E"/>
                </a:solidFill>
                <a:latin typeface="맑은 고딕"/>
              </a:rPr>
              <a:t>판정 배너 </a:t>
            </a:r>
            <a:r>
              <a:rPr sz="1250" b="1">
                <a:solidFill>
                  <a:srgbClr val="1A2B4A"/>
                </a:solidFill>
                <a:latin typeface="맑은 고딕"/>
              </a:rPr>
              <a:t>초과 가능성 64.3%</a:t>
            </a:r>
            <a:r>
              <a:rPr sz="1250" b="0">
                <a:solidFill>
                  <a:srgbClr val="22314E"/>
                </a:solidFill>
                <a:latin typeface="맑은 고딕"/>
              </a:rPr>
              <a:t> · 부담액(보수적 상한) 1,833만원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5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250" b="1">
                <a:solidFill>
                  <a:srgbClr val="1A2B4A"/>
                </a:solidFill>
                <a:latin typeface="맑은 고딕"/>
              </a:rPr>
              <a:t>4-에이전트 파이프라인</a:t>
            </a:r>
            <a:r>
              <a:rPr sz="1250" b="0">
                <a:solidFill>
                  <a:srgbClr val="22314E"/>
                </a:solidFill>
                <a:latin typeface="맑은 고딕"/>
              </a:rPr>
              <a:t>이 실계산값으로 순차 점등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5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250" b="1">
                <a:solidFill>
                  <a:srgbClr val="1A2B4A"/>
                </a:solidFill>
                <a:latin typeface="맑은 고딕"/>
              </a:rPr>
              <a:t>자가 반박</a:t>
            </a:r>
            <a:r>
              <a:rPr sz="1250" b="0">
                <a:solidFill>
                  <a:srgbClr val="22314E"/>
                </a:solidFill>
                <a:latin typeface="맑은 고딕"/>
              </a:rPr>
              <a:t> — 왜 100%가 아니라 부분 50%인지 스스로 설명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5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250" b="0">
                <a:solidFill>
                  <a:srgbClr val="22314E"/>
                </a:solidFill>
                <a:latin typeface="맑은 고딕"/>
              </a:rPr>
              <a:t>`상담 예약 요청` → </a:t>
            </a:r>
            <a:r>
              <a:rPr sz="1250" b="1">
                <a:solidFill>
                  <a:srgbClr val="1A2B4A"/>
                </a:solidFill>
                <a:latin typeface="맑은 고딕"/>
              </a:rPr>
              <a:t>구조화 RM 티켓</a:t>
            </a:r>
            <a:r>
              <a:rPr sz="1250" b="0">
                <a:solidFill>
                  <a:srgbClr val="22314E"/>
                </a:solidFill>
                <a:latin typeface="맑은 고딕"/>
              </a:rPr>
              <a:t>(상품·서류·확인사항·감사근거)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6B7686"/>
                </a:solidFill>
                <a:latin typeface="맑은 고딕"/>
              </a:rPr>
              <a:t>FX Sentinel — 제8회 KB AI Challenge · 현직자 Pick #6 수출입 금융 지원 에이전트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6B7686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6B7686"/>
                </a:solidFill>
                <a:latin typeface="맑은 고딕"/>
              </a:rPr>
              <a:t>[데모 ②] 개인화 실증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>
                <a:solidFill>
                  <a:srgbClr val="1A2B4A"/>
                </a:solidFill>
                <a:latin typeface="맑은 고딕"/>
              </a:rPr>
              <a:t>같은 시장, 다른 회사 → 다른 BBP · 다른 KB 상품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00200"/>
          <a:ext cx="11155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651760"/>
                <a:gridCol w="1188720"/>
                <a:gridCol w="4937760"/>
              </a:tblGrid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프로필</a:t>
                      </a:r>
                    </a:p>
                  </a:txBody>
                  <a:tcPr marL="73152" marR="54864" marT="27432" marB="27432" anchor="ctr">
                    <a:solidFill>
                      <a:srgbClr val="1A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거래</a:t>
                      </a:r>
                    </a:p>
                  </a:txBody>
                  <a:tcPr marL="73152" marR="54864" marT="27432" marB="27432" anchor="ctr">
                    <a:solidFill>
                      <a:srgbClr val="1A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BBP</a:t>
                      </a:r>
                    </a:p>
                  </a:txBody>
                  <a:tcPr marL="73152" marR="54864" marT="27432" marB="27432" anchor="ctr">
                    <a:solidFill>
                      <a:srgbClr val="1A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1순위 KB 상품</a:t>
                      </a:r>
                    </a:p>
                  </a:txBody>
                  <a:tcPr marL="73152" marR="54864" marT="27432" marB="27432" anchor="ctr">
                    <a:solidFill>
                      <a:srgbClr val="1A2B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한빛정밀 · 수출확정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수출 · 미국 · L/C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16.5%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수출환어음매입 (L/C Nego)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대성무역 · 가결제</a:t>
                      </a:r>
                    </a:p>
                  </a:txBody>
                  <a:tcPr marL="73152" marR="54864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수출 · 베트남 · PO단계</a:t>
                      </a:r>
                    </a:p>
                  </a:txBody>
                  <a:tcPr marL="73152" marR="54864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26.9%</a:t>
                      </a:r>
                    </a:p>
                  </a:txBody>
                  <a:tcPr marL="73152" marR="54864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무역금융(수출) · 선물환 차단(실수요 미확정)</a:t>
                      </a:r>
                    </a:p>
                  </a:txBody>
                  <a:tcPr marL="73152" marR="54864" marT="27432" marB="27432" anchor="ctr"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소망전자 · 무여신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수출 · 중국 · O/A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32.7%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KB 특별출연 수출입 금융지원 (K-SURE)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나래상사 · 수입 (기본)</a:t>
                      </a:r>
                    </a:p>
                  </a:txBody>
                  <a:tcPr marL="73152" marR="54864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수입 · 베트남 · T/T</a:t>
                      </a:r>
                    </a:p>
                  </a:txBody>
                  <a:tcPr marL="73152" marR="54864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64.3%</a:t>
                      </a:r>
                    </a:p>
                  </a:txBody>
                  <a:tcPr marL="73152" marR="54864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KB Payment Usance</a:t>
                      </a:r>
                    </a:p>
                  </a:txBody>
                  <a:tcPr marL="73152" marR="54864" marT="27432" marB="27432" anchor="ctr"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하늘샵 · 글로벌셀러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개인사업자 · 미국 · O/A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1.2%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KB 글로벌셀러 우대서비스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70916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5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450" b="0">
                <a:solidFill>
                  <a:srgbClr val="22314E"/>
                </a:solidFill>
                <a:latin typeface="맑은 고딕"/>
              </a:rPr>
              <a:t>프리셋을 눌러가며 BBP·1순위 상품이 실시간으로 갈린다 = </a:t>
            </a:r>
            <a:r>
              <a:rPr sz="1450" b="1">
                <a:solidFill>
                  <a:srgbClr val="1A2B4A"/>
                </a:solidFill>
                <a:latin typeface="맑은 고딕"/>
              </a:rPr>
              <a:t>개인화 리스크 번역</a:t>
            </a:r>
            <a:r>
              <a:rPr sz="1450" b="0">
                <a:solidFill>
                  <a:srgbClr val="22314E"/>
                </a:solidFill>
                <a:latin typeface="맑은 고딕"/>
              </a:rPr>
              <a:t>의 실증 (하드코딩 아님 — 폼 입력에서 파생)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45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450" b="0">
                <a:solidFill>
                  <a:srgbClr val="22314E"/>
                </a:solidFill>
                <a:latin typeface="맑은 고딕"/>
              </a:rPr>
              <a:t>시장 국면을 </a:t>
            </a:r>
            <a:r>
              <a:rPr sz="1450" b="1">
                <a:solidFill>
                  <a:srgbClr val="1A2B4A"/>
                </a:solidFill>
                <a:latin typeface="맑은 고딕"/>
              </a:rPr>
              <a:t>2022 달러 강세</a:t>
            </a:r>
            <a:r>
              <a:rPr sz="1450" b="0">
                <a:solidFill>
                  <a:srgbClr val="22314E"/>
                </a:solidFill>
                <a:latin typeface="맑은 고딕"/>
              </a:rPr>
              <a:t>로 바꾸면 전 지표·큐가 재계산 — </a:t>
            </a:r>
            <a:r>
              <a:rPr sz="1450" b="1">
                <a:solidFill>
                  <a:srgbClr val="1A2B4A"/>
                </a:solidFill>
                <a:latin typeface="맑은 고딕"/>
              </a:rPr>
              <a:t>급변기 대응</a:t>
            </a:r>
            <a:r>
              <a:rPr sz="1450" b="0">
                <a:solidFill>
                  <a:srgbClr val="22314E"/>
                </a:solidFill>
                <a:latin typeface="맑은 고딕"/>
              </a:rPr>
              <a:t>이 핵심 가치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6B7686"/>
                </a:solidFill>
                <a:latin typeface="맑은 고딕"/>
              </a:rPr>
              <a:t>FX Sentinel — 제8회 KB AI Challenge · 현직자 Pick #6 수출입 금융 지원 에이전트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6B7686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6B7686"/>
                </a:solidFill>
                <a:latin typeface="맑은 고딕"/>
              </a:rPr>
              <a:t>[데모 ③] 소비자보호 — 금소법 판매 게이트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>
                <a:solidFill>
                  <a:srgbClr val="1A2B4A"/>
                </a:solidFill>
                <a:latin typeface="맑은 고딕"/>
              </a:rPr>
              <a:t>AI가 상품을 더 파는 게 아니라, 팔면 안 되는 상대를 스스로 거른다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527048"/>
            <a:ext cx="7644384" cy="4155123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pt_suitabil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7589520" cy="41002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66760" y="164592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5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250" b="0">
                <a:solidFill>
                  <a:srgbClr val="22314E"/>
                </a:solidFill>
                <a:latin typeface="맑은 고딕"/>
              </a:rPr>
              <a:t>소망전자 → </a:t>
            </a:r>
            <a:r>
              <a:rPr sz="1250" b="1">
                <a:solidFill>
                  <a:srgbClr val="1A2B4A"/>
                </a:solidFill>
                <a:latin typeface="맑은 고딕"/>
              </a:rPr>
              <a:t>적정성 2/5 부적정</a:t>
            </a:r>
            <a:r>
              <a:rPr sz="1250" b="0">
                <a:solidFill>
                  <a:srgbClr val="22314E"/>
                </a:solidFill>
                <a:latin typeface="맑은 고딕"/>
              </a:rPr>
              <a:t>(손익구조 이해·감내 손실 미충족)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5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250" b="0">
                <a:solidFill>
                  <a:srgbClr val="22314E"/>
                </a:solidFill>
                <a:latin typeface="맑은 고딕"/>
              </a:rPr>
              <a:t>범위선물환 </a:t>
            </a:r>
            <a:r>
              <a:rPr sz="1250" b="1">
                <a:solidFill>
                  <a:srgbClr val="1A2B4A"/>
                </a:solidFill>
                <a:latin typeface="맑은 고딕"/>
              </a:rPr>
              <a:t>[권유보류]</a:t>
            </a:r>
            <a:r>
              <a:rPr sz="1250" b="0">
                <a:solidFill>
                  <a:srgbClr val="22314E"/>
                </a:solidFill>
                <a:latin typeface="맑은 고딕"/>
              </a:rPr>
              <a:t> — AI가 자진 철회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5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250" b="0">
                <a:solidFill>
                  <a:srgbClr val="22314E"/>
                </a:solidFill>
                <a:latin typeface="맑은 고딕"/>
              </a:rPr>
              <a:t>단 </a:t>
            </a:r>
            <a:r>
              <a:rPr sz="1250" b="1">
                <a:solidFill>
                  <a:srgbClr val="1A2B4A"/>
                </a:solidFill>
                <a:latin typeface="맑은 고딕"/>
              </a:rPr>
              <a:t>K-SURE 환변동보험·특별출연은 남긴다</a:t>
            </a:r>
            <a:r>
              <a:rPr sz="1250" b="0">
                <a:solidFill>
                  <a:srgbClr val="22314E"/>
                </a:solidFill>
                <a:latin typeface="맑은 고딕"/>
              </a:rPr>
              <a:t> — 규제로 포용을 죽이지 않는다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5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250" b="0">
                <a:solidFill>
                  <a:srgbClr val="22314E"/>
                </a:solidFill>
                <a:latin typeface="맑은 고딕"/>
              </a:rPr>
              <a:t>여신+파생 동시추천 → </a:t>
            </a:r>
            <a:r>
              <a:rPr sz="1250" b="1">
                <a:solidFill>
                  <a:srgbClr val="1A2B4A"/>
                </a:solidFill>
                <a:latin typeface="맑은 고딕"/>
              </a:rPr>
              <a:t>꺾기(구속성) 점검 플래그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5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250" b="0">
                <a:solidFill>
                  <a:srgbClr val="22314E"/>
                </a:solidFill>
                <a:latin typeface="맑은 고딕"/>
              </a:rPr>
              <a:t>금소법 6대 판매원칙 매핑 · 문항·임계는 데모 설계값임을 화면에 명시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6B7686"/>
                </a:solidFill>
                <a:latin typeface="맑은 고딕"/>
              </a:rPr>
              <a:t>FX Sentinel — 제8회 KB AI Challenge · 현직자 Pick #6 수출입 금융 지원 에이전트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6B7686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6B7686"/>
                </a:solidFill>
                <a:latin typeface="맑은 고딕"/>
              </a:rPr>
              <a:t>[데모 ④] 은행 리스크 — KIKO를 계약 전에 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>
                <a:solidFill>
                  <a:srgbClr val="1A2B4A"/>
                </a:solidFill>
                <a:latin typeface="맑은 고딕"/>
              </a:rPr>
              <a:t>계약 후 터질 손실을, 계약 전에 시뮬레이션한다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527048"/>
            <a:ext cx="7644384" cy="4155123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pt_kiko_stre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7589520" cy="41002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66760" y="164592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5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250" b="0">
                <a:solidFill>
                  <a:srgbClr val="22314E"/>
                </a:solidFill>
                <a:latin typeface="맑은 고딕"/>
              </a:rPr>
              <a:t>체결 300k 선물환에 </a:t>
            </a:r>
            <a:r>
              <a:rPr sz="1250" b="1">
                <a:solidFill>
                  <a:srgbClr val="1A2B4A"/>
                </a:solidFill>
                <a:latin typeface="맑은 고딕"/>
              </a:rPr>
              <a:t>2022 달러 강세 국면</a:t>
            </a:r>
            <a:r>
              <a:rPr sz="1250" b="0">
                <a:solidFill>
                  <a:srgbClr val="22314E"/>
                </a:solidFill>
                <a:latin typeface="맑은 고딕"/>
              </a:rPr>
              <a:t> 적용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5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250" b="0">
                <a:solidFill>
                  <a:srgbClr val="22314E"/>
                </a:solidFill>
                <a:latin typeface="맑은 고딕"/>
              </a:rPr>
              <a:t>방향을 고정하지 않는다 — 수입·매수 포지션의 아픈 방향은 </a:t>
            </a:r>
            <a:r>
              <a:rPr sz="1250" b="1">
                <a:solidFill>
                  <a:srgbClr val="1A2B4A"/>
                </a:solidFill>
                <a:latin typeface="맑은 고딕"/>
              </a:rPr>
              <a:t>원화 강세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5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250" b="0">
                <a:solidFill>
                  <a:srgbClr val="22314E"/>
                </a:solidFill>
                <a:latin typeface="맑은 고딕"/>
              </a:rPr>
              <a:t>−2σ: </a:t>
            </a:r>
            <a:r>
              <a:rPr sz="1250" b="1">
                <a:solidFill>
                  <a:srgbClr val="1A2B4A"/>
                </a:solidFill>
                <a:latin typeface="맑은 고딕"/>
              </a:rPr>
              <a:t>평가손 7,450만 · 추가담보 2,863만 → 부족 1,363만 (감당 불가)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5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250" b="1">
                <a:solidFill>
                  <a:srgbClr val="1A2B4A"/>
                </a:solidFill>
                <a:latin typeface="맑은 고딕"/>
              </a:rPr>
              <a:t>“체결 명목 153,307 이하였어야”</a:t>
            </a:r>
            <a:r>
              <a:rPr sz="1250" b="0">
                <a:solidFill>
                  <a:srgbClr val="22314E"/>
                </a:solidFill>
                <a:latin typeface="맑은 고딕"/>
              </a:rPr>
              <a:t>를 역산 제시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5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250" b="0">
                <a:solidFill>
                  <a:srgbClr val="22314E"/>
                </a:solidFill>
                <a:latin typeface="맑은 고딕"/>
              </a:rPr>
              <a:t>KIKO 경로(평가손→추가담보→자금경색)를 계약 전에 차단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6B7686"/>
                </a:solidFill>
                <a:latin typeface="맑은 고딕"/>
              </a:rPr>
              <a:t>FX Sentinel — 제8회 KB AI Challenge · 현직자 Pick #6 수출입 금융 지원 에이전트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6B7686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6B7686"/>
                </a:solidFill>
                <a:latin typeface="맑은 고딕"/>
              </a:rPr>
              <a:t>자체 정량 지표 — BBP (요건 #1)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>
                <a:solidFill>
                  <a:srgbClr val="1A2B4A"/>
                </a:solidFill>
                <a:latin typeface="맑은 고딕"/>
              </a:rPr>
              <a:t>“GARCH 재포장”이 아니라, 회사별 손익분기가 깨질 확률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11155680" cy="105156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10607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</a:rPr>
              <a:t>BBP_t  =  P( S(t+N) 가 예산환율 K 를 불리하게 이탈 )  =  T_ν( (ln K − ln S_t) / (σ_fwd · √(N/252))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71800"/>
            <a:ext cx="111556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50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500" b="1">
                <a:solidFill>
                  <a:srgbClr val="1A2B4A"/>
                </a:solidFill>
                <a:latin typeface="맑은 고딕"/>
              </a:rPr>
              <a:t>개인화</a:t>
            </a:r>
            <a:r>
              <a:rPr sz="1500" b="0">
                <a:solidFill>
                  <a:srgbClr val="22314E"/>
                </a:solidFill>
                <a:latin typeface="맑은 고딕"/>
              </a:rPr>
              <a:t> — 회사의 K·포지션·만기 N → “변동성 숫자”가 아니라 </a:t>
            </a:r>
            <a:r>
              <a:rPr sz="1500" b="1">
                <a:solidFill>
                  <a:srgbClr val="1A2B4A"/>
                </a:solidFill>
                <a:latin typeface="맑은 고딕"/>
              </a:rPr>
              <a:t>이 회사가 깨질 확률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50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500" b="1">
                <a:solidFill>
                  <a:srgbClr val="1A2B4A"/>
                </a:solidFill>
                <a:latin typeface="맑은 고딕"/>
              </a:rPr>
              <a:t>팻테일</a:t>
            </a:r>
            <a:r>
              <a:rPr sz="1500" b="0">
                <a:solidFill>
                  <a:srgbClr val="22314E"/>
                </a:solidFill>
                <a:latin typeface="맑은 고딕"/>
              </a:rPr>
              <a:t> — Student-t(ν=5)로 외환 꼬리 반영 (정규분포의 과소평가 교정)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50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500" b="1">
                <a:solidFill>
                  <a:srgbClr val="1A2B4A"/>
                </a:solidFill>
                <a:latin typeface="맑은 고딕"/>
              </a:rPr>
              <a:t>정책개입 보정</a:t>
            </a:r>
            <a:r>
              <a:rPr sz="1500" b="0">
                <a:solidFill>
                  <a:srgbClr val="22314E"/>
                </a:solidFill>
                <a:latin typeface="맑은 고딕"/>
              </a:rPr>
              <a:t> — 라운드넘버(1,300·1,400) + 개입 국면 비대칭 절단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50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500" b="1">
                <a:solidFill>
                  <a:srgbClr val="1A2B4A"/>
                </a:solidFill>
                <a:latin typeface="맑은 고딕"/>
              </a:rPr>
              <a:t>무예측 정직성</a:t>
            </a:r>
            <a:r>
              <a:rPr sz="1500" b="0">
                <a:solidFill>
                  <a:srgbClr val="22314E"/>
                </a:solidFill>
                <a:latin typeface="맑은 고딕"/>
              </a:rPr>
              <a:t> — drift=0(랜덤워크): 방향을 예측하지 않고, 이미 정해진 포지션에서 결정론적으로 도출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50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500" b="0">
                <a:solidFill>
                  <a:srgbClr val="22314E"/>
                </a:solidFill>
                <a:latin typeface="맑은 고딕"/>
              </a:rPr>
              <a:t>코어는 `fx_sentinel/bbp.py`(Python 실측) — 데모 JS가 동일 수식 포팅 · </a:t>
            </a:r>
            <a:r>
              <a:rPr sz="1500" b="1">
                <a:solidFill>
                  <a:srgbClr val="1A2B4A"/>
                </a:solidFill>
                <a:latin typeface="맑은 고딕"/>
              </a:rPr>
              <a:t>자체 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6B7686"/>
                </a:solidFill>
                <a:latin typeface="맑은 고딕"/>
              </a:rPr>
              <a:t>FX Sentinel — 제8회 KB AI Challenge · 현직자 Pick #6 수출입 금융 지원 에이전트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6B7686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6B7686"/>
                </a:solidFill>
                <a:latin typeface="맑은 고딕"/>
              </a:rPr>
              <a:t>BBP 캘리브레이션 — 정직 고지 (숫자 옆에서 말한다)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>
                <a:solidFill>
                  <a:srgbClr val="1A2B4A"/>
                </a:solidFill>
                <a:latin typeface="맑은 고딕"/>
              </a:rPr>
              <a:t>신뢰성은 화면에서 증명하고, 한계도 화면에서 고지한다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572768"/>
            <a:ext cx="5632703" cy="4083304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librat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5577840" cy="4028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7373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35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350" b="0">
                <a:solidFill>
                  <a:srgbClr val="22314E"/>
                </a:solidFill>
                <a:latin typeface="맑은 고딕"/>
              </a:rPr>
              <a:t>만기별 ECE — 1M 0.036 / </a:t>
            </a:r>
            <a:r>
              <a:rPr sz="1350" b="1">
                <a:solidFill>
                  <a:srgbClr val="1A2B4A"/>
                </a:solidFill>
                <a:latin typeface="맑은 고딕"/>
              </a:rPr>
              <a:t>3M 0.034</a:t>
            </a:r>
            <a:r>
              <a:rPr sz="1350" b="0">
                <a:solidFill>
                  <a:srgbClr val="22314E"/>
                </a:solidFill>
                <a:latin typeface="맑은 고딕"/>
              </a:rPr>
              <a:t> / 6M 0.084 · “BBP 65% → 실제 66%” 수준 정합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35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350" b="0">
                <a:solidFill>
                  <a:srgbClr val="22314E"/>
                </a:solidFill>
                <a:latin typeface="맑은 고딕"/>
              </a:rPr>
              <a:t>2018–2026 실데이터 </a:t>
            </a:r>
            <a:r>
              <a:rPr sz="1350" b="1">
                <a:solidFill>
                  <a:srgbClr val="1A2B4A"/>
                </a:solidFill>
                <a:latin typeface="맑은 고딕"/>
              </a:rPr>
              <a:t>3,800건 무누수 백테스트</a:t>
            </a:r>
            <a:r>
              <a:rPr sz="1350" b="0">
                <a:solidFill>
                  <a:srgbClr val="22314E"/>
                </a:solidFill>
                <a:latin typeface="맑은 고딕"/>
              </a:rPr>
              <a:t> (Brier 0.175)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35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350" b="1">
                <a:solidFill>
                  <a:srgbClr val="1A2B4A"/>
                </a:solidFill>
                <a:latin typeface="맑은 고딕"/>
              </a:rPr>
              <a:t>한계 동시 고지</a:t>
            </a:r>
            <a:r>
              <a:rPr sz="1350" b="0">
                <a:solidFill>
                  <a:srgbClr val="22314E"/>
                </a:solidFill>
                <a:latin typeface="맑은 고딕"/>
              </a:rPr>
              <a:t> — 방향별로 나누면 ECE 0.139(4배) · 수입 실제 초과빈도 74.5% · ES는 실측의 1.86배 보수적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35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350" b="0">
                <a:solidFill>
                  <a:srgbClr val="22314E"/>
                </a:solidFill>
                <a:latin typeface="맑은 고딕"/>
              </a:rPr>
              <a:t>→ 화면 표기는 “예상 부담액”이 아니라 </a:t>
            </a:r>
            <a:r>
              <a:rPr sz="1350" b="1">
                <a:solidFill>
                  <a:srgbClr val="1A2B4A"/>
                </a:solidFill>
                <a:latin typeface="맑은 고딕"/>
              </a:rPr>
              <a:t>“부담액(보수적 상한)”</a:t>
            </a:r>
            <a:r>
              <a:rPr sz="1350" b="0">
                <a:solidFill>
                  <a:srgbClr val="22314E"/>
                </a:solidFill>
                <a:latin typeface="맑은 고딕"/>
              </a:rPr>
              <a:t> + 방향별 오차를 함께 고지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35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350" b="0">
                <a:solidFill>
                  <a:srgbClr val="22314E"/>
                </a:solidFill>
                <a:latin typeface="맑은 고딕"/>
              </a:rPr>
              <a:t>출처: `state/bbp_calibration.json` · `bbp_validation.json` — 화면 수치와 1:1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6B7686"/>
                </a:solidFill>
                <a:latin typeface="맑은 고딕"/>
              </a:rPr>
              <a:t>FX Sentinel — 제8회 KB AI Challenge · 현직자 Pick #6 수출입 금융 지원 에이전트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6B7686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6B7686"/>
                </a:solidFill>
                <a:latin typeface="맑은 고딕"/>
              </a:rPr>
              <a:t>경제성 — 부분헤지 프론티어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>
                <a:solidFill>
                  <a:srgbClr val="1A2B4A"/>
                </a:solidFill>
                <a:latin typeface="맑은 고딕"/>
              </a:rPr>
              <a:t>체계적 부분헤지가 무헤지·상시헤지 양극단을 이긴다 (리스크·비용·꼬리 3면)</a:t>
            </a:r>
          </a:p>
        </p:txBody>
      </p:sp>
      <p:sp>
        <p:nvSpPr>
          <p:cNvPr id="5" name="Rectangle 4"/>
          <p:cNvSpPr/>
          <p:nvPr/>
        </p:nvSpPr>
        <p:spPr>
          <a:xfrm>
            <a:off x="1956816" y="1572768"/>
            <a:ext cx="8284464" cy="3343125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rontier_k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248" y="1600200"/>
            <a:ext cx="8229600" cy="32882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07492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40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400" b="0">
                <a:solidFill>
                  <a:srgbClr val="22314E"/>
                </a:solidFill>
                <a:latin typeface="맑은 고딕"/>
              </a:rPr>
              <a:t>수출 SME(2019–2026) 하방분산 — 무헤지 759 · </a:t>
            </a:r>
            <a:r>
              <a:rPr sz="1400" b="1">
                <a:solidFill>
                  <a:srgbClr val="1A2B4A"/>
                </a:solidFill>
                <a:latin typeface="맑은 고딕"/>
              </a:rPr>
              <a:t>부분 50%(권장) 460</a:t>
            </a:r>
            <a:r>
              <a:rPr sz="1400" b="0">
                <a:solidFill>
                  <a:srgbClr val="22314E"/>
                </a:solidFill>
                <a:latin typeface="맑은 고딕"/>
              </a:rPr>
              <a:t> · 상시 100% 571 · 비용은 상시의 절반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40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400" b="1">
                <a:solidFill>
                  <a:srgbClr val="1A2B4A"/>
                </a:solidFill>
                <a:latin typeface="맑은 고딕"/>
              </a:rPr>
              <a:t>삭제한 과대주장</a:t>
            </a:r>
            <a:r>
              <a:rPr sz="1400" b="0">
                <a:solidFill>
                  <a:srgbClr val="22314E"/>
                </a:solidFill>
                <a:latin typeface="맑은 고딕"/>
              </a:rPr>
              <a:t> — “AI가 동적 타이밍을 잘한다”는 walk-forward 반증으로 폐기 · “AI 마법”이 아니라 </a:t>
            </a:r>
            <a:r>
              <a:rPr sz="1400" b="1">
                <a:solidFill>
                  <a:srgbClr val="1A2B4A"/>
                </a:solidFill>
                <a:latin typeface="맑은 고딕"/>
              </a:rPr>
              <a:t>규율 있는 부분헤지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6B7686"/>
                </a:solidFill>
                <a:latin typeface="맑은 고딕"/>
              </a:rPr>
              <a:t>FX Sentinel — 제8회 KB AI Challenge · 현직자 Pick #6 수출입 금융 지원 에이전트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6B7686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6B7686"/>
                </a:solidFill>
                <a:latin typeface="맑은 고딕"/>
              </a:rPr>
              <a:t>정직 검증 = 차별화 (요건 #6)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>
                <a:solidFill>
                  <a:srgbClr val="1A2B4A"/>
                </a:solidFill>
                <a:latin typeface="맑은 고딕"/>
              </a:rPr>
              <a:t>대부분 팀이 안 하는 지적 정직성을 전면에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527048"/>
            <a:ext cx="7644384" cy="4155123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pt_governa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7589520" cy="41002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66760" y="164592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5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250" b="1">
                <a:solidFill>
                  <a:srgbClr val="1A2B4A"/>
                </a:solidFill>
                <a:latin typeface="맑은 고딕"/>
              </a:rPr>
              <a:t>walk-forward OOS · PBO 0.20 · DSR 0.9999</a:t>
            </a:r>
            <a:r>
              <a:rPr sz="1250" b="0">
                <a:solidFill>
                  <a:srgbClr val="22314E"/>
                </a:solidFill>
                <a:latin typeface="맑은 고딕"/>
              </a:rPr>
              <a:t>를 실제로 돌려 예측력 측정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5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250" b="0">
                <a:solidFill>
                  <a:srgbClr val="22314E"/>
                </a:solidFill>
                <a:latin typeface="맑은 고딕"/>
              </a:rPr>
              <a:t>Phase1 AUC 0.577 &lt; 레벨 0.596 · 동적헤지 OOS 패배 → </a:t>
            </a:r>
            <a:r>
              <a:rPr sz="1250" b="1">
                <a:solidFill>
                  <a:srgbClr val="1A2B4A"/>
                </a:solidFill>
                <a:latin typeface="맑은 고딕"/>
              </a:rPr>
              <a:t>예측 알파를 스스로 기각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5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250" b="0">
                <a:solidFill>
                  <a:srgbClr val="22314E"/>
                </a:solidFill>
                <a:latin typeface="맑은 고딕"/>
              </a:rPr>
              <a:t>낡은 주장을 몰래 지우지 않는다 — “검증했고, 안 통하는 건 걷어냈다”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5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250" b="0">
                <a:solidFill>
                  <a:srgbClr val="22314E"/>
                </a:solidFill>
                <a:latin typeface="맑은 고딕"/>
              </a:rPr>
              <a:t>근거·거버넌스·로드맵은 데모 </a:t>
            </a:r>
            <a:r>
              <a:rPr sz="1250" b="1">
                <a:solidFill>
                  <a:srgbClr val="1A2B4A"/>
                </a:solidFill>
                <a:latin typeface="맑은 고딕"/>
              </a:rPr>
              <a:t>④ 검증·거버넌스 탭</a:t>
            </a:r>
            <a:r>
              <a:rPr sz="1250" b="0">
                <a:solidFill>
                  <a:srgbClr val="22314E"/>
                </a:solidFill>
                <a:latin typeface="맑은 고딕"/>
              </a:rPr>
              <a:t>에 집결 (RM 실무 화면과 분리)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6B7686"/>
                </a:solidFill>
                <a:latin typeface="맑은 고딕"/>
              </a:rPr>
              <a:t>FX Sentinel — 제8회 KB AI Challenge · 현직자 Pick #6 수출입 금융 지원 에이전트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6B7686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6B7686"/>
                </a:solidFill>
                <a:latin typeface="맑은 고딕"/>
              </a:rPr>
              <a:t>에이전트란 무엇인가 (요건 #3 정면 대응) 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>
                <a:solidFill>
                  <a:srgbClr val="1A2B4A"/>
                </a:solidFill>
                <a:latin typeface="맑은 고딕"/>
              </a:rPr>
              <a:t>챗봇은 인터페이스일 뿐 — 에이전트는 “묻기 전에 일하는 주체”다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54480"/>
          <a:ext cx="53949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4389120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루프</a:t>
                      </a:r>
                    </a:p>
                  </a:txBody>
                  <a:tcPr marL="73152" marR="54864" marT="27432" marB="27432" anchor="ctr">
                    <a:solidFill>
                      <a:srgbClr val="1A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FX Sentinel의 실물</a:t>
                      </a:r>
                    </a:p>
                  </a:txBody>
                  <a:tcPr marL="73152" marR="54864" marT="27432" marB="27432" anchor="ctr">
                    <a:solidFill>
                      <a:srgbClr val="1A2B4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00" b="0">
                          <a:solidFill>
                            <a:srgbClr val="22314E"/>
                          </a:solidFill>
                          <a:latin typeface="맑은 고딕"/>
                        </a:rPr>
                        <a:t>인지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00" b="0">
                          <a:solidFill>
                            <a:srgbClr val="22314E"/>
                          </a:solidFill>
                          <a:latin typeface="맑은 고딕"/>
                        </a:rPr>
                        <a:t>시세·국면(σ·EWI)·프로필·서류(OCR)·자연어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00" b="0">
                          <a:solidFill>
                            <a:srgbClr val="22314E"/>
                          </a:solidFill>
                          <a:latin typeface="맑은 고딕"/>
                        </a:rPr>
                        <a:t>추론</a:t>
                      </a:r>
                    </a:p>
                  </a:txBody>
                  <a:tcPr marL="73152" marR="54864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00" b="0">
                          <a:solidFill>
                            <a:srgbClr val="22314E"/>
                          </a:solidFill>
                          <a:latin typeface="맑은 고딕"/>
                        </a:rPr>
                        <a:t>BBP 엔진·XAI 분해·룰엔진(자격·적정성·한도)</a:t>
                      </a:r>
                    </a:p>
                  </a:txBody>
                  <a:tcPr marL="73152" marR="54864" marT="27432" marB="27432" anchor="ctr"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00" b="0">
                          <a:solidFill>
                            <a:srgbClr val="22314E"/>
                          </a:solidFill>
                          <a:latin typeface="맑은 고딕"/>
                        </a:rPr>
                        <a:t>행동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00" b="0">
                          <a:solidFill>
                            <a:srgbClr val="22314E"/>
                          </a:solidFill>
                          <a:latin typeface="맑은 고딕"/>
                        </a:rPr>
                        <a:t>선제 경보·상품 라우팅·RM 티켓·감시 알림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00" b="0">
                          <a:solidFill>
                            <a:srgbClr val="22314E"/>
                          </a:solidFill>
                          <a:latin typeface="맑은 고딕"/>
                        </a:rPr>
                        <a:t>감독</a:t>
                      </a:r>
                    </a:p>
                  </a:txBody>
                  <a:tcPr marL="73152" marR="54864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200" b="0">
                          <a:solidFill>
                            <a:srgbClr val="22314E"/>
                          </a:solidFill>
                          <a:latin typeface="맑은 고딕"/>
                        </a:rPr>
                        <a:t>준법 게이트·RM 최종 확인·영업점 계약 확정</a:t>
                      </a:r>
                    </a:p>
                  </a:txBody>
                  <a:tcPr marL="73152" marR="54864" marT="27432" marB="27432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840480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5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250" b="1">
                <a:solidFill>
                  <a:srgbClr val="1A2B4A"/>
                </a:solidFill>
                <a:latin typeface="맑은 고딕"/>
              </a:rPr>
              <a:t>AI 모드(채팅)</a:t>
            </a:r>
            <a:r>
              <a:rPr sz="1250" b="0">
                <a:solidFill>
                  <a:srgbClr val="22314E"/>
                </a:solidFill>
                <a:latin typeface="맑은 고딕"/>
              </a:rPr>
              <a:t> — 현재 진단 근거로 종합 답변·기업 전환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5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250" b="0">
                <a:solidFill>
                  <a:srgbClr val="22314E"/>
                </a:solidFill>
                <a:latin typeface="맑은 고딕"/>
              </a:rPr>
              <a:t>예측 질문(“내일 환율 오를까?”)은 </a:t>
            </a:r>
            <a:r>
              <a:rPr sz="1250" b="1">
                <a:solidFill>
                  <a:srgbClr val="1A2B4A"/>
                </a:solidFill>
                <a:latin typeface="맑은 고딕"/>
              </a:rPr>
              <a:t>“범위 밖 — 답을 지어내지 않습니다”</a:t>
            </a:r>
            <a:r>
              <a:rPr sz="1250" b="0">
                <a:solidFill>
                  <a:srgbClr val="22314E"/>
                </a:solidFill>
                <a:latin typeface="맑은 고딕"/>
              </a:rPr>
              <a:t> 거절 → RM 안내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5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250" b="0">
                <a:solidFill>
                  <a:srgbClr val="22314E"/>
                </a:solidFill>
                <a:latin typeface="맑은 고딕"/>
              </a:rPr>
              <a:t>문장 입력·감시 위임·Advisor 질문 — 전부 행내 처리 · 외부 전송 0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6207" y="1527048"/>
            <a:ext cx="5541264" cy="3018907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pt_ai_mo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54480"/>
            <a:ext cx="5486400" cy="29640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6B7686"/>
                </a:solidFill>
                <a:latin typeface="맑은 고딕"/>
              </a:rPr>
              <a:t>FX Sentinel — 제8회 KB AI Challenge · 현직자 Pick #6 수출입 금융 지원 에이전트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6B7686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6B7686"/>
                </a:solidFill>
                <a:latin typeface="맑은 고딕"/>
              </a:rPr>
              <a:t>멀티에이전트 구조 + 정보보호 (요건 #3·#4)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>
                <a:solidFill>
                  <a:srgbClr val="1A2B4A"/>
                </a:solidFill>
                <a:latin typeface="맑은 고딕"/>
              </a:rPr>
              <a:t>경보 → 설명 → 정보 → 번역 → 제안 → 티켓 · 고객정보는 밖으로 안 나간다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1527048"/>
            <a:ext cx="11210544" cy="2967064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gen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11155680" cy="2912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70916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300" b="1">
                <a:solidFill>
                  <a:srgbClr val="1A2B4A"/>
                </a:solidFill>
                <a:latin typeface="맑은 고딕"/>
              </a:rPr>
              <a:t>Sentinel</a:t>
            </a:r>
            <a:r>
              <a:rPr sz="1300" b="0">
                <a:solidFill>
                  <a:srgbClr val="22314E"/>
                </a:solidFill>
                <a:latin typeface="맑은 고딕"/>
              </a:rPr>
              <a:t>(결정론 코어·경보) → </a:t>
            </a:r>
            <a:r>
              <a:rPr sz="1300" b="1">
                <a:solidFill>
                  <a:srgbClr val="1A2B4A"/>
                </a:solidFill>
                <a:latin typeface="맑은 고딕"/>
              </a:rPr>
              <a:t>Analyst</a:t>
            </a:r>
            <a:r>
              <a:rPr sz="1300" b="0">
                <a:solidFill>
                  <a:srgbClr val="22314E"/>
                </a:solidFill>
                <a:latin typeface="맑은 고딕"/>
              </a:rPr>
              <a:t>(V/J/C XAI·LLM 설명층+규칙 폴백) → </a:t>
            </a:r>
            <a:r>
              <a:rPr sz="1300" b="1">
                <a:solidFill>
                  <a:srgbClr val="1A2B4A"/>
                </a:solidFill>
                <a:latin typeface="맑은 고딕"/>
              </a:rPr>
              <a:t>Advisor</a:t>
            </a:r>
            <a:r>
              <a:rPr sz="1300" b="0">
                <a:solidFill>
                  <a:srgbClr val="22314E"/>
                </a:solidFill>
                <a:latin typeface="맑은 고딕"/>
              </a:rPr>
              <a:t>(지식베이스·출처·가드레일) → </a:t>
            </a:r>
            <a:r>
              <a:rPr sz="1300" b="1">
                <a:solidFill>
                  <a:srgbClr val="1A2B4A"/>
                </a:solidFill>
                <a:latin typeface="맑은 고딕"/>
              </a:rPr>
              <a:t>Hedge</a:t>
            </a:r>
            <a:r>
              <a:rPr sz="1300" b="0">
                <a:solidFill>
                  <a:srgbClr val="22314E"/>
                </a:solidFill>
                <a:latin typeface="맑은 고딕"/>
              </a:rPr>
              <a:t>(CIP·트리아지·KB상품)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300" b="0">
                <a:solidFill>
                  <a:srgbClr val="22314E"/>
                </a:solidFill>
                <a:latin typeface="맑은 고딕"/>
              </a:rPr>
              <a:t>고객 화면 AI 요약은 </a:t>
            </a:r>
            <a:r>
              <a:rPr sz="1300" b="1">
                <a:solidFill>
                  <a:srgbClr val="1A2B4A"/>
                </a:solidFill>
                <a:latin typeface="맑은 고딕"/>
              </a:rPr>
              <a:t>행내(브라우저) 생성</a:t>
            </a:r>
            <a:r>
              <a:rPr sz="1300" b="0">
                <a:solidFill>
                  <a:srgbClr val="22314E"/>
                </a:solidFill>
                <a:latin typeface="맑은 고딕"/>
              </a:rPr>
              <a:t> — 숫자는 결정론 엔진만 만들므로 </a:t>
            </a:r>
            <a:r>
              <a:rPr sz="1300" b="1">
                <a:solidFill>
                  <a:srgbClr val="1A2B4A"/>
                </a:solidFill>
                <a:latin typeface="맑은 고딕"/>
              </a:rPr>
              <a:t>환각 원천 차단</a:t>
            </a:r>
            <a:r>
              <a:rPr sz="1300" b="0">
                <a:solidFill>
                  <a:srgbClr val="22314E"/>
                </a:solidFill>
                <a:latin typeface="맑은 고딕"/>
              </a:rPr>
              <a:t> · 기준환율(영업비밀)·신용정보 </a:t>
            </a:r>
            <a:r>
              <a:rPr sz="1300" b="1">
                <a:solidFill>
                  <a:srgbClr val="1A2B4A"/>
                </a:solidFill>
                <a:latin typeface="맑은 고딕"/>
              </a:rPr>
              <a:t>외부 미전송</a:t>
            </a:r>
            <a:r>
              <a:rPr sz="1300" b="0">
                <a:solidFill>
                  <a:srgbClr val="22314E"/>
                </a:solidFill>
                <a:latin typeface="맑은 고딕"/>
              </a:rPr>
              <a:t>(`AI_EXTERNAL_CALL_ENABLED=false`)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300" b="0">
                <a:solidFill>
                  <a:srgbClr val="22314E"/>
                </a:solidFill>
                <a:latin typeface="맑은 고딕"/>
              </a:rPr>
              <a:t>LLM을 안 부르는 건 기술 부족이 아니라 </a:t>
            </a:r>
            <a:r>
              <a:rPr sz="1300" b="1">
                <a:solidFill>
                  <a:srgbClr val="1A2B4A"/>
                </a:solidFill>
                <a:latin typeface="맑은 고딕"/>
              </a:rPr>
              <a:t>금융권 클라우드·신용정보 국외이전 기준을 코드로 준수한 설계 결정</a:t>
            </a:r>
            <a:r>
              <a:rPr sz="1300" b="0">
                <a:solidFill>
                  <a:srgbClr val="22314E"/>
                </a:solidFill>
                <a:latin typeface="맑은 고딕"/>
              </a:rPr>
              <a:t> — 파일럿에서 행내 LLM으로 교체할 인터페이스(`narrate.py`·`llm.py`) 보존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6B7686"/>
                </a:solidFill>
                <a:latin typeface="맑은 고딕"/>
              </a:rPr>
              <a:t>FX Sentinel — 제8회 KB AI Challenge · 현직자 Pick #6 수출입 금융 지원 에이전트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6B7686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6B7686"/>
                </a:solidFill>
                <a:latin typeface="맑은 고딕"/>
              </a:rPr>
              <a:t>실배포 — 연동 없이 시작하는 파일럿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>
                <a:solidFill>
                  <a:srgbClr val="1A2B4A"/>
                </a:solidFill>
                <a:latin typeface="맑은 고딕"/>
              </a:rPr>
              <a:t>연동은 파일럿의 전제가 아니라 결과물이다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00200"/>
          <a:ext cx="111556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645920"/>
                <a:gridCol w="6583680"/>
                <a:gridCol w="1371600"/>
              </a:tblGrid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L="73152" marR="54864" marT="27432" marB="27432" anchor="ctr">
                    <a:solidFill>
                      <a:srgbClr val="1A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기간</a:t>
                      </a:r>
                    </a:p>
                  </a:txBody>
                  <a:tcPr marL="73152" marR="54864" marT="27432" marB="27432" anchor="ctr">
                    <a:solidFill>
                      <a:srgbClr val="1A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73152" marR="54864" marT="27432" marB="27432" anchor="ctr">
                    <a:solidFill>
                      <a:srgbClr val="1A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연동</a:t>
                      </a:r>
                    </a:p>
                  </a:txBody>
                  <a:tcPr marL="73152" marR="54864" marT="27432" marB="27432" anchor="ctr">
                    <a:solidFill>
                      <a:srgbClr val="1A2B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파일럿 전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4주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준법 문구 승인 · 상품 조건 검증 · 모델 대장 · PIA · KB 고시 수기 반입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P1 섀도</a:t>
                      </a:r>
                    </a:p>
                  </a:txBody>
                  <a:tcPr marL="73152" marR="54864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8주</a:t>
                      </a:r>
                    </a:p>
                  </a:txBody>
                  <a:tcPr marL="73152" marR="54864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RM 단독 — 화면 판정 vs RM 판단 비교 기록</a:t>
                      </a:r>
                    </a:p>
                  </a:txBody>
                  <a:tcPr marL="73152" marR="54864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73152" marR="54864" marT="27432" marB="27432" anchor="ctr"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P2 배석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8주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동의 고객 RM 배석 열람 → 이해도·설명의무 측정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연동 후</a:t>
                      </a:r>
                    </a:p>
                  </a:txBody>
                  <a:tcPr marL="73152" marR="54864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예산 승인 시</a:t>
                      </a:r>
                    </a:p>
                  </a:txBody>
                  <a:tcPr marL="73152" marR="54864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SSO · 원장/여신 · CRM · 실 OCR · 서버 SLA</a:t>
                      </a:r>
                    </a:p>
                  </a:txBody>
                  <a:tcPr marL="73152" marR="54864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IT 예산</a:t>
                      </a:r>
                    </a:p>
                  </a:txBody>
                  <a:tcPr marL="73152" marR="54864" marT="27432" marB="27432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48056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40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400" b="0">
                <a:solidFill>
                  <a:srgbClr val="22314E"/>
                </a:solidFill>
                <a:latin typeface="맑은 고딕"/>
              </a:rPr>
              <a:t>측정 도구를 화면에 내장 — </a:t>
            </a:r>
            <a:r>
              <a:rPr sz="1400" b="1">
                <a:solidFill>
                  <a:srgbClr val="1A2B4A"/>
                </a:solidFill>
                <a:latin typeface="맑은 고딕"/>
              </a:rPr>
              <a:t>RM 판정 기록(유지/변경+사유 → CSV)</a:t>
            </a:r>
            <a:r>
              <a:rPr sz="1400" b="0">
                <a:solidFill>
                  <a:srgbClr val="22314E"/>
                </a:solidFill>
                <a:latin typeface="맑은 고딕"/>
              </a:rPr>
              <a:t> = 추천 유지율 원자료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40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400" b="1">
                <a:solidFill>
                  <a:srgbClr val="1A2B4A"/>
                </a:solidFill>
                <a:latin typeface="맑은 고딕"/>
              </a:rPr>
              <a:t>Go 기준</a:t>
            </a:r>
            <a:r>
              <a:rPr sz="1400" b="0">
                <a:solidFill>
                  <a:srgbClr val="22314E"/>
                </a:solidFill>
                <a:latin typeface="맑은 고딕"/>
              </a:rPr>
              <a:t> — 추천 유지율 ≥70% · 준법 오류 0 · 차단 판정 타당성 ≥90% · 고객 이해도 ≥70%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400" b="1">
                <a:solidFill>
                  <a:srgbClr val="FFBC00"/>
                </a:solidFill>
                <a:latin typeface="맑은 고딕"/>
              </a:rPr>
              <a:t>▎ </a:t>
            </a:r>
            <a:r>
              <a:rPr sz="1400" b="0">
                <a:solidFill>
                  <a:srgbClr val="22314E"/>
                </a:solidFill>
                <a:latin typeface="맑은 고딕"/>
              </a:rPr>
              <a:t>못 재는 것은 과대약속 안 함 — 상담 전환율·준비시간 단축은 연동 후에만 (성공 기준에서 제외)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6B7686"/>
                </a:solidFill>
                <a:latin typeface="맑은 고딕"/>
              </a:rPr>
              <a:t>FX Sentinel — 제8회 KB AI Challenge · 현직자 Pick #6 수출입 금융 지원 에이전트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6B7686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6B7686"/>
                </a:solidFill>
                <a:latin typeface="맑은 고딕"/>
              </a:rPr>
              <a:t>입상 7요건 충족표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338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>
                <a:solidFill>
                  <a:srgbClr val="1A2B4A"/>
                </a:solidFill>
                <a:latin typeface="맑은 고딕"/>
              </a:rPr>
              <a:t>말만이 아니라 테스트로 지킨다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54480"/>
          <a:ext cx="1115568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743200"/>
                <a:gridCol w="7863840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marL="73152" marR="54864" marT="27432" marB="27432" anchor="ctr">
                    <a:solidFill>
                      <a:srgbClr val="1A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요건</a:t>
                      </a:r>
                    </a:p>
                  </a:txBody>
                  <a:tcPr marL="73152" marR="54864" marT="27432" marB="27432" anchor="ctr">
                    <a:solidFill>
                      <a:srgbClr val="1A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충족</a:t>
                      </a:r>
                    </a:p>
                  </a:txBody>
                  <a:tcPr marL="73152" marR="54864" marT="27432" marB="27432" anchor="ctr">
                    <a:solidFill>
                      <a:srgbClr val="1A2B4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자체 정량 지표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1">
                          <a:solidFill>
                            <a:srgbClr val="1A2B4A"/>
                          </a:solidFill>
                          <a:latin typeface="맑은 고딕"/>
                        </a:rPr>
                        <a:t>BBP</a:t>
                      </a: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 — 개인화·팻테일·개입보정 (GARCH 아님)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73152" marR="54864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설명가능성 XAI</a:t>
                      </a:r>
                    </a:p>
                  </a:txBody>
                  <a:tcPr marL="73152" marR="54864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FX-EWI V/J/C/M 분해 + BBP 근거·출처</a:t>
                      </a:r>
                    </a:p>
                  </a:txBody>
                  <a:tcPr marL="73152" marR="54864" marT="27432" marB="27432" anchor="ctr"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멀티에이전트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Sentinel / Analyst / Advisor / Hedge + AI 모드(대화)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73152" marR="54864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선제성</a:t>
                      </a:r>
                    </a:p>
                  </a:txBody>
                  <a:tcPr marL="73152" marR="54864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BBP 임계 선제 경보 + 반복결제 계약 전 진단</a:t>
                      </a:r>
                    </a:p>
                  </a:txBody>
                  <a:tcPr marL="73152" marR="54864" marT="27432" marB="27432" anchor="ctr"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KB 실배포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KB Star FX 증강 + KB 공식상품 라우팅 + RM 티켓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marL="73152" marR="54864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검증</a:t>
                      </a:r>
                    </a:p>
                  </a:txBody>
                  <a:tcPr marL="73152" marR="54864" marT="27432" marB="27432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walk-forward / PBO / DSR 정직 수행 + 한계 명시</a:t>
                      </a:r>
                    </a:p>
                  </a:txBody>
                  <a:tcPr marL="73152" marR="54864" marT="27432" marB="27432" anchor="ctr"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차별화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300" b="0">
                          <a:solidFill>
                            <a:srgbClr val="22314E"/>
                          </a:solidFill>
                          <a:latin typeface="맑은 고딕"/>
                        </a:rPr>
                        <a:t>#6 블루오션 + BBP 개인화 + 정직 검증 + KB 통합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120640"/>
            <a:ext cx="11155680" cy="86868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266944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50" b="0">
                <a:solidFill>
                  <a:srgbClr val="22314E"/>
                </a:solidFill>
                <a:latin typeface="맑은 고딕"/>
              </a:rPr>
              <a:t>검증 현황(재현 가능) — 데모 UI 스모크 </a:t>
            </a:r>
            <a:r>
              <a:rPr sz="1450" b="1">
                <a:solidFill>
                  <a:srgbClr val="1A2B4A"/>
                </a:solidFill>
                <a:latin typeface="맑은 고딕"/>
              </a:rPr>
              <a:t>368</a:t>
            </a:r>
            <a:r>
              <a:rPr sz="1450" b="0">
                <a:solidFill>
                  <a:srgbClr val="22314E"/>
                </a:solidFill>
                <a:latin typeface="맑은 고딕"/>
              </a:rPr>
              <a:t> · 서버 pytest </a:t>
            </a:r>
            <a:r>
              <a:rPr sz="1450" b="1">
                <a:solidFill>
                  <a:srgbClr val="1A2B4A"/>
                </a:solidFill>
                <a:latin typeface="맑은 고딕"/>
              </a:rPr>
              <a:t>257</a:t>
            </a:r>
            <a:r>
              <a:rPr sz="1450" b="0">
                <a:solidFill>
                  <a:srgbClr val="22314E"/>
                </a:solidFill>
                <a:latin typeface="맑은 고딕"/>
              </a:rPr>
              <a:t> · 문서 정합 </a:t>
            </a:r>
            <a:r>
              <a:rPr sz="1450" b="1">
                <a:solidFill>
                  <a:srgbClr val="1A2B4A"/>
                </a:solidFill>
                <a:latin typeface="맑은 고딕"/>
              </a:rPr>
              <a:t>16</a:t>
            </a:r>
            <a:r>
              <a:rPr sz="1450" b="0">
                <a:solidFill>
                  <a:srgbClr val="22314E"/>
                </a:solidFill>
                <a:latin typeface="맑은 고딕"/>
              </a:rPr>
              <a:t> · 텍스트 확대(WCAG)·모바일 무회귀 — </a:t>
            </a:r>
            <a:r>
              <a:rPr sz="1450" b="1">
                <a:solidFill>
                  <a:srgbClr val="1A2B4A"/>
                </a:solidFill>
                <a:latin typeface="맑은 고딕"/>
              </a:rPr>
              <a:t>전부 통과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6B7686"/>
                </a:solidFill>
                <a:latin typeface="맑은 고딕"/>
              </a:rPr>
              <a:t>FX Sentinel — 제8회 KB AI Challenge · 현직자 Pick #6 수출입 금융 지원 에이전트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6B7686"/>
                </a:solidFill>
                <a:latin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10128"/>
            <a:ext cx="12191695" cy="41148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800" b="0">
                <a:solidFill>
                  <a:srgbClr val="C9D2E2"/>
                </a:solidFill>
                <a:latin typeface="맑은 고딕"/>
              </a:rPr>
              <a:t>예측 알파는 죽었지만,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더 정직하고 SME에 유용한 서비스로 재무장했습니다.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900" b="1">
                <a:solidFill>
                  <a:srgbClr val="FFBC00"/>
                </a:solidFill>
                <a:latin typeface="맑은 고딕"/>
              </a:rPr>
              <a:t>회사별 예산환율 리스크 번역(BBP)  +  정직한 검증  +  KB 공식상품 원스톱 라우팅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50" b="0">
                <a:solidFill>
                  <a:srgbClr val="9AA7BD"/>
                </a:solidFill>
                <a:latin typeface="맑은 고딕"/>
              </a:rPr>
              <a:t>경진대회는 퀀트펀드가 아니라 KB 서비스 심사 — 이 방향이 입상 요건을 정직하게 지킵니다.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00" b="1">
                <a:solidFill>
                  <a:srgbClr val="FFBC00"/>
                </a:solidFill>
                <a:latin typeface="맑은 고딕"/>
              </a:rPr>
              <a:t>▶ https://seonu-dragon.github.io/KB_FX_Sentinel/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